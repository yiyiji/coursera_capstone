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1" r:id="rId8"/>
    <p:sldId id="262"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7" autoAdjust="0"/>
    <p:restoredTop sz="94660"/>
  </p:normalViewPr>
  <p:slideViewPr>
    <p:cSldViewPr snapToGrid="0">
      <p:cViewPr varScale="1">
        <p:scale>
          <a:sx n="78" d="100"/>
          <a:sy n="78" d="100"/>
        </p:scale>
        <p:origin x="2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2964675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3000878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413009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016620E-7AA7-4787-9306-B2CE6962FB7F}" type="datetimeFigureOut">
              <a:rPr lang="pt-PT" smtClean="0"/>
              <a:t>20/09/2020</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4136280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16620E-7AA7-4787-9306-B2CE6962FB7F}" type="datetimeFigureOut">
              <a:rPr lang="pt-PT" smtClean="0"/>
              <a:t>20/09/2020</a:t>
            </a:fld>
            <a:endParaRPr lang="pt-PT"/>
          </a:p>
        </p:txBody>
      </p:sp>
      <p:sp>
        <p:nvSpPr>
          <p:cNvPr id="8" name="Footer Placeholder 7"/>
          <p:cNvSpPr>
            <a:spLocks noGrp="1"/>
          </p:cNvSpPr>
          <p:nvPr>
            <p:ph type="ftr" sz="quarter" idx="11"/>
          </p:nvPr>
        </p:nvSpPr>
        <p:spPr/>
        <p:txBody>
          <a:bodyPr/>
          <a:lstStyle/>
          <a:p>
            <a:endParaRPr lang="pt-PT"/>
          </a:p>
        </p:txBody>
      </p:sp>
      <p:sp>
        <p:nvSpPr>
          <p:cNvPr id="9" name="Slide Number Placeholder 8"/>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089345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3"/>
          <p:cNvSpPr>
            <a:spLocks noGrp="1"/>
          </p:cNvSpPr>
          <p:nvPr>
            <p:ph type="ftr" sz="quarter" idx="11"/>
          </p:nvPr>
        </p:nvSpPr>
        <p:spPr/>
        <p:txBody>
          <a:bodyPr/>
          <a:lstStyle/>
          <a:p>
            <a:endParaRPr lang="pt-PT"/>
          </a:p>
        </p:txBody>
      </p:sp>
      <p:sp>
        <p:nvSpPr>
          <p:cNvPr id="6" name="Slide Number Placeholder 4"/>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354929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2"/>
          <p:cNvSpPr>
            <a:spLocks noGrp="1"/>
          </p:cNvSpPr>
          <p:nvPr>
            <p:ph type="ftr" sz="quarter" idx="11"/>
          </p:nvPr>
        </p:nvSpPr>
        <p:spPr/>
        <p:txBody>
          <a:bodyPr/>
          <a:lstStyle/>
          <a:p>
            <a:endParaRPr lang="pt-PT"/>
          </a:p>
        </p:txBody>
      </p:sp>
      <p:sp>
        <p:nvSpPr>
          <p:cNvPr id="6" name="Slide Number Placeholder 3"/>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24462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5"/>
          <p:cNvSpPr>
            <a:spLocks noGrp="1"/>
          </p:cNvSpPr>
          <p:nvPr>
            <p:ph type="ftr" sz="quarter" idx="11"/>
          </p:nvPr>
        </p:nvSpPr>
        <p:spPr/>
        <p:txBody>
          <a:bodyPr/>
          <a:lstStyle/>
          <a:p>
            <a:endParaRPr lang="pt-PT"/>
          </a:p>
        </p:txBody>
      </p:sp>
      <p:sp>
        <p:nvSpPr>
          <p:cNvPr id="6" name="Slide Number Placeholder 6"/>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54058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016620E-7AA7-4787-9306-B2CE6962FB7F}" type="datetimeFigureOut">
              <a:rPr lang="pt-PT" smtClean="0"/>
              <a:t>20/09/2020</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041822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016620E-7AA7-4787-9306-B2CE6962FB7F}" type="datetimeFigureOut">
              <a:rPr lang="pt-PT" smtClean="0"/>
              <a:t>20/09/2020</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2706549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515834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57227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579555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4"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845025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4"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37424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3376739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16620E-7AA7-4787-9306-B2CE6962FB7F}" type="datetimeFigureOut">
              <a:rPr lang="pt-PT" smtClean="0"/>
              <a:t>20/09/2020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B9C5FE33-7E9D-4CF3-9CBE-DC2AC9F6FB7A}" type="slidenum">
              <a:rPr lang="pt-PT" smtClean="0"/>
              <a:t>‹#›</a:t>
            </a:fld>
            <a:endParaRPr lang="pt-PT"/>
          </a:p>
        </p:txBody>
      </p:sp>
    </p:spTree>
    <p:extLst>
      <p:ext uri="{BB962C8B-B14F-4D97-AF65-F5344CB8AC3E}">
        <p14:creationId xmlns:p14="http://schemas.microsoft.com/office/powerpoint/2010/main" val="144067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016620E-7AA7-4787-9306-B2CE6962FB7F}" type="datetimeFigureOut">
              <a:rPr lang="pt-PT" smtClean="0"/>
              <a:t>20/09/2020</a:t>
            </a:fld>
            <a:endParaRPr lang="pt-PT"/>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pt-PT"/>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9C5FE33-7E9D-4CF3-9CBE-DC2AC9F6FB7A}" type="slidenum">
              <a:rPr lang="pt-PT" smtClean="0"/>
              <a:t>‹#›</a:t>
            </a:fld>
            <a:endParaRPr lang="pt-PT"/>
          </a:p>
        </p:txBody>
      </p:sp>
    </p:spTree>
    <p:extLst>
      <p:ext uri="{BB962C8B-B14F-4D97-AF65-F5344CB8AC3E}">
        <p14:creationId xmlns:p14="http://schemas.microsoft.com/office/powerpoint/2010/main" val="20359356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4" y="1447800"/>
            <a:ext cx="10114407" cy="3329581"/>
          </a:xfrm>
        </p:spPr>
        <p:txBody>
          <a:bodyPr/>
          <a:lstStyle/>
          <a:p>
            <a:r>
              <a:rPr lang="en-US" dirty="0"/>
              <a:t>C</a:t>
            </a:r>
            <a:r>
              <a:rPr lang="en-US" dirty="0" smtClean="0"/>
              <a:t>ar </a:t>
            </a:r>
            <a:r>
              <a:rPr lang="en-US" dirty="0"/>
              <a:t>accident </a:t>
            </a:r>
            <a:r>
              <a:rPr lang="en-US" dirty="0" smtClean="0"/>
              <a:t>Severity</a:t>
            </a:r>
            <a:r>
              <a:rPr lang="pt-PT" dirty="0"/>
              <a:t/>
            </a:r>
            <a:br>
              <a:rPr lang="pt-PT" dirty="0"/>
            </a:br>
            <a:r>
              <a:rPr lang="en-US" dirty="0" smtClean="0"/>
              <a:t>Predictor</a:t>
            </a:r>
            <a:endParaRPr lang="pt-PT" dirty="0"/>
          </a:p>
        </p:txBody>
      </p:sp>
      <p:sp>
        <p:nvSpPr>
          <p:cNvPr id="3" name="Subtitle 2"/>
          <p:cNvSpPr>
            <a:spLocks noGrp="1"/>
          </p:cNvSpPr>
          <p:nvPr>
            <p:ph type="subTitle" idx="1"/>
          </p:nvPr>
        </p:nvSpPr>
        <p:spPr/>
        <p:txBody>
          <a:bodyPr>
            <a:noAutofit/>
          </a:bodyPr>
          <a:lstStyle/>
          <a:p>
            <a:r>
              <a:rPr lang="en-US" dirty="0"/>
              <a:t>IBM Data Science Course</a:t>
            </a:r>
            <a:br>
              <a:rPr lang="en-US" dirty="0"/>
            </a:br>
            <a:r>
              <a:rPr lang="en-US" dirty="0"/>
              <a:t>Capstone </a:t>
            </a:r>
            <a:r>
              <a:rPr lang="en-US" dirty="0" smtClean="0"/>
              <a:t>Project</a:t>
            </a:r>
          </a:p>
          <a:p>
            <a:r>
              <a:rPr lang="en-US" dirty="0" smtClean="0"/>
              <a:t>Yiyi Ji</a:t>
            </a:r>
          </a:p>
          <a:p>
            <a:r>
              <a:rPr lang="en-US" dirty="0" smtClean="0"/>
              <a:t>20</a:t>
            </a:r>
            <a:r>
              <a:rPr lang="en-US" baseline="30000" dirty="0" smtClean="0"/>
              <a:t>th</a:t>
            </a:r>
            <a:r>
              <a:rPr lang="en-US" dirty="0" smtClean="0"/>
              <a:t> September 2020</a:t>
            </a:r>
            <a:endParaRPr lang="pt-PT" dirty="0"/>
          </a:p>
        </p:txBody>
      </p:sp>
    </p:spTree>
    <p:extLst>
      <p:ext uri="{BB962C8B-B14F-4D97-AF65-F5344CB8AC3E}">
        <p14:creationId xmlns:p14="http://schemas.microsoft.com/office/powerpoint/2010/main" val="1952456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smtClean="0"/>
              <a:t>Introduction</a:t>
            </a:r>
            <a:endParaRPr lang="pt-PT" dirty="0"/>
          </a:p>
        </p:txBody>
      </p:sp>
      <p:sp>
        <p:nvSpPr>
          <p:cNvPr id="3" name="Content Placeholder 2"/>
          <p:cNvSpPr>
            <a:spLocks noGrp="1"/>
          </p:cNvSpPr>
          <p:nvPr>
            <p:ph idx="1"/>
          </p:nvPr>
        </p:nvSpPr>
        <p:spPr/>
        <p:txBody>
          <a:bodyPr>
            <a:normAutofit fontScale="92500" lnSpcReduction="20000"/>
          </a:bodyPr>
          <a:lstStyle/>
          <a:p>
            <a:r>
              <a:rPr lang="en-US" dirty="0"/>
              <a:t>Car accidents </a:t>
            </a:r>
            <a:r>
              <a:rPr lang="en-US" dirty="0" smtClean="0"/>
              <a:t>results </a:t>
            </a:r>
            <a:r>
              <a:rPr lang="en-US" dirty="0"/>
              <a:t>in injury, disability, death and property damage. </a:t>
            </a:r>
            <a:endParaRPr lang="en-US" dirty="0" smtClean="0"/>
          </a:p>
          <a:p>
            <a:r>
              <a:rPr lang="en-US" dirty="0" smtClean="0"/>
              <a:t>Financial </a:t>
            </a:r>
            <a:r>
              <a:rPr lang="en-US" dirty="0"/>
              <a:t>costs to society and individuals involved. </a:t>
            </a:r>
            <a:endParaRPr lang="en-US" dirty="0" smtClean="0"/>
          </a:p>
          <a:p>
            <a:r>
              <a:rPr lang="en-US" dirty="0" smtClean="0"/>
              <a:t>Will be the fifth </a:t>
            </a:r>
            <a:r>
              <a:rPr lang="en-US" dirty="0"/>
              <a:t>leading cause of death by 2030.</a:t>
            </a:r>
            <a:endParaRPr lang="pt-PT" dirty="0"/>
          </a:p>
          <a:p>
            <a:r>
              <a:rPr lang="en-US" dirty="0" smtClean="0"/>
              <a:t>Contributing factors to collisions: weather </a:t>
            </a:r>
            <a:r>
              <a:rPr lang="en-US" dirty="0"/>
              <a:t>conditions, road conditions, light conditions, speed of operations, use of alcohol or drugs, etc. </a:t>
            </a:r>
            <a:endParaRPr lang="en-US" dirty="0" smtClean="0"/>
          </a:p>
          <a:p>
            <a:r>
              <a:rPr lang="en-US" dirty="0" smtClean="0"/>
              <a:t>By </a:t>
            </a:r>
            <a:r>
              <a:rPr lang="en-US" dirty="0"/>
              <a:t>analyzing these factors, one could predict the severity of the accidents.</a:t>
            </a:r>
            <a:endParaRPr lang="pt-PT" dirty="0"/>
          </a:p>
          <a:p>
            <a:r>
              <a:rPr lang="en-US" dirty="0"/>
              <a:t>The accident severity predictions could be used to alert the drivers, the competent authorities </a:t>
            </a:r>
            <a:endParaRPr lang="en-US" dirty="0" smtClean="0"/>
          </a:p>
          <a:p>
            <a:pPr lvl="1"/>
            <a:r>
              <a:rPr lang="en-US" dirty="0" smtClean="0"/>
              <a:t>drivers </a:t>
            </a:r>
            <a:r>
              <a:rPr lang="en-US" dirty="0"/>
              <a:t>could avoid driving or taking alternative </a:t>
            </a:r>
            <a:r>
              <a:rPr lang="en-US" dirty="0" smtClean="0"/>
              <a:t>routes</a:t>
            </a:r>
          </a:p>
          <a:p>
            <a:pPr lvl="1"/>
            <a:r>
              <a:rPr lang="en-US" dirty="0" smtClean="0"/>
              <a:t>authorities </a:t>
            </a:r>
            <a:r>
              <a:rPr lang="en-US" dirty="0"/>
              <a:t>can prevent accidents by taking necessary measures (for instance repairing roads, improving lightening, better design intersections, etc.) or prepare for the causalities by allocating resources in advance.</a:t>
            </a:r>
            <a:endParaRPr lang="pt-PT" dirty="0"/>
          </a:p>
          <a:p>
            <a:endParaRPr lang="pt-PT" dirty="0"/>
          </a:p>
        </p:txBody>
      </p:sp>
    </p:spTree>
    <p:extLst>
      <p:ext uri="{BB962C8B-B14F-4D97-AF65-F5344CB8AC3E}">
        <p14:creationId xmlns:p14="http://schemas.microsoft.com/office/powerpoint/2010/main" val="321610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smtClean="0"/>
              <a:t>Data </a:t>
            </a:r>
            <a:endParaRPr lang="pt-PT" dirty="0"/>
          </a:p>
        </p:txBody>
      </p:sp>
      <p:sp>
        <p:nvSpPr>
          <p:cNvPr id="3" name="Content Placeholder 2"/>
          <p:cNvSpPr>
            <a:spLocks noGrp="1"/>
          </p:cNvSpPr>
          <p:nvPr>
            <p:ph idx="1"/>
          </p:nvPr>
        </p:nvSpPr>
        <p:spPr/>
        <p:txBody>
          <a:bodyPr>
            <a:normAutofit fontScale="92500" lnSpcReduction="20000"/>
          </a:bodyPr>
          <a:lstStyle/>
          <a:p>
            <a:r>
              <a:rPr lang="en-US" dirty="0" smtClean="0"/>
              <a:t>From Seattle </a:t>
            </a:r>
            <a:r>
              <a:rPr lang="en-US" dirty="0"/>
              <a:t>Department of Transportation, Traffic Management Division from 2004 to present</a:t>
            </a:r>
            <a:r>
              <a:rPr lang="en-US" dirty="0" smtClean="0"/>
              <a:t>.</a:t>
            </a:r>
          </a:p>
          <a:p>
            <a:endParaRPr lang="en-US" dirty="0"/>
          </a:p>
          <a:p>
            <a:r>
              <a:rPr lang="en-US" dirty="0" smtClean="0"/>
              <a:t>Drop: </a:t>
            </a:r>
          </a:p>
          <a:p>
            <a:pPr lvl="1"/>
            <a:r>
              <a:rPr lang="en-US" dirty="0" err="1" smtClean="0"/>
              <a:t>Redunctant</a:t>
            </a:r>
            <a:r>
              <a:rPr lang="en-US" dirty="0" smtClean="0"/>
              <a:t> features </a:t>
            </a:r>
          </a:p>
          <a:p>
            <a:pPr lvl="1"/>
            <a:r>
              <a:rPr lang="en-US" dirty="0" smtClean="0"/>
              <a:t>Features with irrelevant information</a:t>
            </a:r>
          </a:p>
          <a:p>
            <a:pPr lvl="1"/>
            <a:r>
              <a:rPr lang="en-US" dirty="0" err="1" smtClean="0"/>
              <a:t>Fetures</a:t>
            </a:r>
            <a:r>
              <a:rPr lang="en-US" dirty="0" smtClean="0"/>
              <a:t> with high </a:t>
            </a:r>
            <a:r>
              <a:rPr lang="en-US" dirty="0"/>
              <a:t>degree of missing values (66%-95</a:t>
            </a:r>
            <a:r>
              <a:rPr lang="en-US" dirty="0" smtClean="0"/>
              <a:t>%)</a:t>
            </a:r>
            <a:endParaRPr lang="pt-PT" dirty="0"/>
          </a:p>
          <a:p>
            <a:endParaRPr lang="en-US" dirty="0" smtClean="0"/>
          </a:p>
          <a:p>
            <a:r>
              <a:rPr lang="en-US" dirty="0" smtClean="0"/>
              <a:t>Useful features: location </a:t>
            </a:r>
            <a:r>
              <a:rPr lang="en-US" dirty="0"/>
              <a:t>(given in geographical coordinates), weather condition, road condition and light condition</a:t>
            </a:r>
            <a:r>
              <a:rPr lang="en-US" dirty="0" smtClean="0"/>
              <a:t>.</a:t>
            </a:r>
          </a:p>
          <a:p>
            <a:endParaRPr lang="pt-PT" dirty="0"/>
          </a:p>
          <a:p>
            <a:r>
              <a:rPr lang="en-US" dirty="0" smtClean="0"/>
              <a:t>unbalanced dataset (136485 </a:t>
            </a:r>
            <a:r>
              <a:rPr lang="en-US" dirty="0"/>
              <a:t>cases of </a:t>
            </a:r>
            <a:r>
              <a:rPr lang="en-US" dirty="0" smtClean="0"/>
              <a:t>severity 1 </a:t>
            </a:r>
            <a:r>
              <a:rPr lang="en-US" dirty="0"/>
              <a:t>(property damage only) and 58188 cases of severity 2 (injury</a:t>
            </a:r>
            <a:r>
              <a:rPr lang="en-US" dirty="0" smtClean="0"/>
              <a:t>))</a:t>
            </a:r>
            <a:endParaRPr lang="pt-PT" dirty="0"/>
          </a:p>
        </p:txBody>
      </p:sp>
    </p:spTree>
    <p:extLst>
      <p:ext uri="{BB962C8B-B14F-4D97-AF65-F5344CB8AC3E}">
        <p14:creationId xmlns:p14="http://schemas.microsoft.com/office/powerpoint/2010/main" val="3490768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smtClean="0"/>
              <a:t>Data visualization</a:t>
            </a:r>
            <a:endParaRPr lang="pt-PT" dirty="0"/>
          </a:p>
        </p:txBody>
      </p:sp>
      <p:pic>
        <p:nvPicPr>
          <p:cNvPr id="5" name="Content Placeholder 4"/>
          <p:cNvPicPr>
            <a:picLocks noGrp="1"/>
          </p:cNvPicPr>
          <p:nvPr>
            <p:ph idx="1"/>
          </p:nvPr>
        </p:nvPicPr>
        <p:blipFill>
          <a:blip r:embed="rId2"/>
          <a:stretch>
            <a:fillRect/>
          </a:stretch>
        </p:blipFill>
        <p:spPr>
          <a:xfrm>
            <a:off x="2124075" y="2307431"/>
            <a:ext cx="6905625" cy="3686175"/>
          </a:xfrm>
          <a:prstGeom prst="rect">
            <a:avLst/>
          </a:prstGeom>
        </p:spPr>
      </p:pic>
    </p:spTree>
    <p:extLst>
      <p:ext uri="{BB962C8B-B14F-4D97-AF65-F5344CB8AC3E}">
        <p14:creationId xmlns:p14="http://schemas.microsoft.com/office/powerpoint/2010/main" val="2867800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Data visualization</a:t>
            </a:r>
          </a:p>
        </p:txBody>
      </p:sp>
      <p:pic>
        <p:nvPicPr>
          <p:cNvPr id="4" name="Content Placeholder 3"/>
          <p:cNvPicPr>
            <a:picLocks noGrp="1"/>
          </p:cNvPicPr>
          <p:nvPr>
            <p:ph idx="1"/>
          </p:nvPr>
        </p:nvPicPr>
        <p:blipFill>
          <a:blip r:embed="rId2"/>
          <a:stretch>
            <a:fillRect/>
          </a:stretch>
        </p:blipFill>
        <p:spPr>
          <a:xfrm>
            <a:off x="1762125" y="2350294"/>
            <a:ext cx="7629525" cy="3600450"/>
          </a:xfrm>
          <a:prstGeom prst="rect">
            <a:avLst/>
          </a:prstGeom>
        </p:spPr>
      </p:pic>
    </p:spTree>
    <p:extLst>
      <p:ext uri="{BB962C8B-B14F-4D97-AF65-F5344CB8AC3E}">
        <p14:creationId xmlns:p14="http://schemas.microsoft.com/office/powerpoint/2010/main" val="20702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Data visualization</a:t>
            </a:r>
          </a:p>
        </p:txBody>
      </p:sp>
      <p:pic>
        <p:nvPicPr>
          <p:cNvPr id="5" name="Content Placeholder 4"/>
          <p:cNvPicPr>
            <a:picLocks noGrp="1"/>
          </p:cNvPicPr>
          <p:nvPr>
            <p:ph idx="1"/>
          </p:nvPr>
        </p:nvPicPr>
        <p:blipFill>
          <a:blip r:embed="rId2"/>
          <a:stretch>
            <a:fillRect/>
          </a:stretch>
        </p:blipFill>
        <p:spPr>
          <a:xfrm>
            <a:off x="2473514" y="2052638"/>
            <a:ext cx="6206748" cy="4195762"/>
          </a:xfrm>
          <a:prstGeom prst="rect">
            <a:avLst/>
          </a:prstGeom>
        </p:spPr>
      </p:pic>
    </p:spTree>
    <p:extLst>
      <p:ext uri="{BB962C8B-B14F-4D97-AF65-F5344CB8AC3E}">
        <p14:creationId xmlns:p14="http://schemas.microsoft.com/office/powerpoint/2010/main" val="392172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Data visualization</a:t>
            </a:r>
          </a:p>
        </p:txBody>
      </p:sp>
      <p:pic>
        <p:nvPicPr>
          <p:cNvPr id="5" name="Content Placeholder 4"/>
          <p:cNvPicPr>
            <a:picLocks noGrp="1"/>
          </p:cNvPicPr>
          <p:nvPr>
            <p:ph idx="1"/>
          </p:nvPr>
        </p:nvPicPr>
        <p:blipFill>
          <a:blip r:embed="rId2"/>
          <a:stretch>
            <a:fillRect/>
          </a:stretch>
        </p:blipFill>
        <p:spPr>
          <a:xfrm>
            <a:off x="2221207" y="2052638"/>
            <a:ext cx="6711362" cy="4195762"/>
          </a:xfrm>
          <a:prstGeom prst="rect">
            <a:avLst/>
          </a:prstGeom>
        </p:spPr>
      </p:pic>
    </p:spTree>
    <p:extLst>
      <p:ext uri="{BB962C8B-B14F-4D97-AF65-F5344CB8AC3E}">
        <p14:creationId xmlns:p14="http://schemas.microsoft.com/office/powerpoint/2010/main" val="2937380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Data visualization</a:t>
            </a:r>
          </a:p>
        </p:txBody>
      </p:sp>
      <p:pic>
        <p:nvPicPr>
          <p:cNvPr id="5" name="Content Placeholder 4"/>
          <p:cNvPicPr>
            <a:picLocks noGrp="1"/>
          </p:cNvPicPr>
          <p:nvPr>
            <p:ph idx="1"/>
          </p:nvPr>
        </p:nvPicPr>
        <p:blipFill rotWithShape="1">
          <a:blip r:embed="rId2"/>
          <a:srcRect l="5307" r="9785"/>
          <a:stretch/>
        </p:blipFill>
        <p:spPr bwMode="auto">
          <a:xfrm>
            <a:off x="2894588" y="2052638"/>
            <a:ext cx="5364599" cy="419576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4175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Data visualization</a:t>
            </a:r>
          </a:p>
        </p:txBody>
      </p:sp>
      <p:sp>
        <p:nvSpPr>
          <p:cNvPr id="3" name="Content Placeholder 2"/>
          <p:cNvSpPr>
            <a:spLocks noGrp="1"/>
          </p:cNvSpPr>
          <p:nvPr>
            <p:ph idx="1"/>
          </p:nvPr>
        </p:nvSpPr>
        <p:spPr/>
        <p:txBody>
          <a:bodyPr/>
          <a:lstStyle/>
          <a:p>
            <a:r>
              <a:rPr lang="pt-PT" dirty="0" smtClean="0"/>
              <a:t>Location: all accidents</a:t>
            </a:r>
            <a:endParaRPr lang="pt-PT" dirty="0"/>
          </a:p>
        </p:txBody>
      </p:sp>
      <p:pic>
        <p:nvPicPr>
          <p:cNvPr id="5" name="Picture 4"/>
          <p:cNvPicPr>
            <a:picLocks noChangeAspect="1"/>
          </p:cNvPicPr>
          <p:nvPr/>
        </p:nvPicPr>
        <p:blipFill>
          <a:blip r:embed="rId2"/>
          <a:stretch>
            <a:fillRect/>
          </a:stretch>
        </p:blipFill>
        <p:spPr>
          <a:xfrm>
            <a:off x="5756245" y="992346"/>
            <a:ext cx="4066384" cy="5486876"/>
          </a:xfrm>
          <a:prstGeom prst="rect">
            <a:avLst/>
          </a:prstGeom>
        </p:spPr>
      </p:pic>
    </p:spTree>
    <p:extLst>
      <p:ext uri="{BB962C8B-B14F-4D97-AF65-F5344CB8AC3E}">
        <p14:creationId xmlns:p14="http://schemas.microsoft.com/office/powerpoint/2010/main" val="1184992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Data visualization</a:t>
            </a:r>
          </a:p>
        </p:txBody>
      </p:sp>
      <p:sp>
        <p:nvSpPr>
          <p:cNvPr id="3" name="Content Placeholder 2"/>
          <p:cNvSpPr>
            <a:spLocks noGrp="1"/>
          </p:cNvSpPr>
          <p:nvPr>
            <p:ph idx="1"/>
          </p:nvPr>
        </p:nvSpPr>
        <p:spPr/>
        <p:txBody>
          <a:bodyPr/>
          <a:lstStyle/>
          <a:p>
            <a:r>
              <a:rPr lang="pt-PT" dirty="0" smtClean="0"/>
              <a:t>Location: severity 2</a:t>
            </a:r>
            <a:endParaRPr lang="pt-PT" dirty="0"/>
          </a:p>
        </p:txBody>
      </p:sp>
      <p:pic>
        <p:nvPicPr>
          <p:cNvPr id="5" name="Picture 4"/>
          <p:cNvPicPr>
            <a:picLocks noChangeAspect="1"/>
          </p:cNvPicPr>
          <p:nvPr/>
        </p:nvPicPr>
        <p:blipFill>
          <a:blip r:embed="rId2"/>
          <a:stretch>
            <a:fillRect/>
          </a:stretch>
        </p:blipFill>
        <p:spPr>
          <a:xfrm>
            <a:off x="6160899" y="613549"/>
            <a:ext cx="4145639" cy="5803895"/>
          </a:xfrm>
          <a:prstGeom prst="rect">
            <a:avLst/>
          </a:prstGeom>
        </p:spPr>
      </p:pic>
    </p:spTree>
    <p:extLst>
      <p:ext uri="{BB962C8B-B14F-4D97-AF65-F5344CB8AC3E}">
        <p14:creationId xmlns:p14="http://schemas.microsoft.com/office/powerpoint/2010/main" val="1167459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smtClean="0"/>
              <a:t>Machine learning model</a:t>
            </a:r>
            <a:endParaRPr lang="pt-PT" dirty="0"/>
          </a:p>
        </p:txBody>
      </p:sp>
      <p:pic>
        <p:nvPicPr>
          <p:cNvPr id="6" name="Content Placeholder 5"/>
          <p:cNvPicPr>
            <a:picLocks noGrp="1" noChangeAspect="1"/>
          </p:cNvPicPr>
          <p:nvPr>
            <p:ph idx="1"/>
          </p:nvPr>
        </p:nvPicPr>
        <p:blipFill>
          <a:blip r:embed="rId2"/>
          <a:stretch>
            <a:fillRect/>
          </a:stretch>
        </p:blipFill>
        <p:spPr>
          <a:xfrm>
            <a:off x="2367775" y="2150012"/>
            <a:ext cx="7683059" cy="2384918"/>
          </a:xfrm>
          <a:prstGeom prst="rect">
            <a:avLst/>
          </a:prstGeom>
        </p:spPr>
      </p:pic>
      <p:sp>
        <p:nvSpPr>
          <p:cNvPr id="7" name="Rectangle 6"/>
          <p:cNvSpPr/>
          <p:nvPr/>
        </p:nvSpPr>
        <p:spPr>
          <a:xfrm>
            <a:off x="2823552" y="3669958"/>
            <a:ext cx="6771503" cy="518983"/>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428571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smtClean="0"/>
              <a:t>Conclusion</a:t>
            </a:r>
            <a:endParaRPr lang="pt-PT" dirty="0"/>
          </a:p>
        </p:txBody>
      </p:sp>
      <p:sp>
        <p:nvSpPr>
          <p:cNvPr id="3" name="Content Placeholder 2"/>
          <p:cNvSpPr>
            <a:spLocks noGrp="1"/>
          </p:cNvSpPr>
          <p:nvPr>
            <p:ph idx="1"/>
          </p:nvPr>
        </p:nvSpPr>
        <p:spPr/>
        <p:txBody>
          <a:bodyPr/>
          <a:lstStyle/>
          <a:p>
            <a:r>
              <a:rPr lang="en-US" dirty="0"/>
              <a:t>A supervised machine learning model using logistic regression algorithm was built to predict accident severity based on weather, road and light conditions as well as geolocation</a:t>
            </a:r>
            <a:r>
              <a:rPr lang="en-US" dirty="0" smtClean="0"/>
              <a:t>.</a:t>
            </a:r>
          </a:p>
          <a:p>
            <a:endParaRPr lang="en-US" dirty="0"/>
          </a:p>
          <a:p>
            <a:r>
              <a:rPr lang="en-US" dirty="0"/>
              <a:t>Month and week day could be incorporated in the model to increase the performance of the models. It wasn’t included because its computationally heavy and takes very long time to process so many features.</a:t>
            </a:r>
            <a:endParaRPr lang="pt-PT"/>
          </a:p>
          <a:p>
            <a:endParaRPr lang="pt-PT"/>
          </a:p>
        </p:txBody>
      </p:sp>
    </p:spTree>
    <p:extLst>
      <p:ext uri="{BB962C8B-B14F-4D97-AF65-F5344CB8AC3E}">
        <p14:creationId xmlns:p14="http://schemas.microsoft.com/office/powerpoint/2010/main" val="10977107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TotalTime>
  <Words>303</Words>
  <Application>Microsoft Office PowerPoint</Application>
  <PresentationFormat>Widescreen</PresentationFormat>
  <Paragraphs>38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Ion</vt:lpstr>
      <vt:lpstr>Car accident Severity Predictor</vt:lpstr>
      <vt:lpstr>Introduction</vt:lpstr>
      <vt:lpstr>Data </vt:lpstr>
      <vt:lpstr>Data visualization</vt:lpstr>
      <vt:lpstr>Data visualization</vt:lpstr>
      <vt:lpstr>Data visualization</vt:lpstr>
      <vt:lpstr>Data visualization</vt:lpstr>
      <vt:lpstr>Data visualization</vt:lpstr>
      <vt:lpstr>Data visualization</vt:lpstr>
      <vt:lpstr>Data visualization</vt:lpstr>
      <vt:lpstr>Machine learning model</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accident Severity Predictor</dc:title>
  <dc:creator>Yiyi Ji</dc:creator>
  <cp:lastModifiedBy>Yiyi Ji</cp:lastModifiedBy>
  <cp:revision>3</cp:revision>
  <dcterms:created xsi:type="dcterms:W3CDTF">2020-09-20T21:01:51Z</dcterms:created>
  <dcterms:modified xsi:type="dcterms:W3CDTF">2020-09-20T21:17:12Z</dcterms:modified>
</cp:coreProperties>
</file>